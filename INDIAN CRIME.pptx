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hitsinghbishtkv@gmail.com" initials="r" lastIdx="1" clrIdx="0">
    <p:extLst>
      <p:ext uri="{19B8F6BF-5375-455C-9EA6-DF929625EA0E}">
        <p15:presenceInfo xmlns:p15="http://schemas.microsoft.com/office/powerpoint/2012/main" userId="dd01f099b1520aa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75" d="100"/>
          <a:sy n="75" d="100"/>
        </p:scale>
        <p:origin x="2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62CFF-4420-47F3-AB92-AEA86F08F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30AE5C-C2E2-4420-9FB5-6C748A8B2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211E3-5CA2-475F-9E27-8DE6AAAF3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EAEB-5A09-4949-8D36-3E3459DD2A0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B4EC1-B27C-408D-AA1D-541A68B45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1E5CA-5A7C-4EF2-9871-4FF142450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629C-BEA9-40EA-AD7D-574AC6AD8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905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76D5D-50A3-43AD-8CF1-754E6B22D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3300E-6035-4F72-A514-E83F56107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0D17E-1DC8-4977-983F-521E30964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EAEB-5A09-4949-8D36-3E3459DD2A0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B567D-AA8E-4532-A38B-2CD901BD6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279BF-B884-4BC7-A8D2-5FD7E14D8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629C-BEA9-40EA-AD7D-574AC6AD8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222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1AB1E-5DD4-40D6-B11E-9ACA61379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5175C-96DD-441A-AD96-A0D831335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75A4B-3FCF-40A2-B62D-2CBD30189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EAEB-5A09-4949-8D36-3E3459DD2A0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B8042-E5AB-4679-97A1-4C3F63F1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0B176-7D4A-4A31-8307-9FD25970F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629C-BEA9-40EA-AD7D-574AC6AD8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782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E5A0D-B470-48FD-9666-04A5A6D40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2BCDC-38A3-4BDC-B804-54568D1A5D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273C4-D7D3-4750-9116-FC33FF61B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DDB70-6558-4870-AA88-61588E3DB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EAEB-5A09-4949-8D36-3E3459DD2A0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3692A-271E-4CCB-904C-CC2D0CDC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A1E49-31D1-46C3-93C9-5E62BF995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629C-BEA9-40EA-AD7D-574AC6AD8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781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9E618-E3CF-4139-B089-61A2316B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10827-EBA7-4340-8E8A-0DFDEB61E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CD9358-A0BF-4FB6-8C0D-62C9AAECE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4BA3C4-5744-4D63-99BB-29ED8F172D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B4D3E9-57E5-4B3B-A8E5-C1379999B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9ED5CD-6A21-406F-A4E4-A8C37CACB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EAEB-5A09-4949-8D36-3E3459DD2A0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8AF55E-0985-4594-82A8-CCA76E675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451EF5-BC6E-46AA-8330-46CECC52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629C-BEA9-40EA-AD7D-574AC6AD8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210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184AD-F87F-4EF1-8B90-41F5A6A25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CCFCB-2178-4A01-B644-88A83CD78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EAEB-5A09-4949-8D36-3E3459DD2A0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CBDFAE-536D-4B98-B48B-EBC6C993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883EAF-D168-402F-89AB-3ABAECA65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629C-BEA9-40EA-AD7D-574AC6AD8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831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68571-EE3F-420B-8EFF-22C114594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EAEB-5A09-4949-8D36-3E3459DD2A0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00DF58-F36E-44B6-A6BD-52C56A562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6804D-3E7D-493F-A571-497210C54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629C-BEA9-40EA-AD7D-574AC6AD8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284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78170-C9EB-45FD-8481-EBFCACC11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54DD5-6FB3-4F5E-8B5B-1DC7E08C9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673BA2-E58F-4881-92EF-3D10B12B7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D08F8-5C77-46AC-A6AF-061E3D35D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EAEB-5A09-4949-8D36-3E3459DD2A0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091BC-B6C3-4041-84F0-BE7BC9DD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5A5B3-6CE0-466D-AEA0-873A4F612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629C-BEA9-40EA-AD7D-574AC6AD8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49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EF89-4F5A-49FE-831A-55113751D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3BBAD7-6B99-40CE-A061-86A436C798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BC1E2-B6A3-4172-89D0-40AF38E43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B461-4494-4A28-81A5-45DE9324A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EAEB-5A09-4949-8D36-3E3459DD2A0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4CBC0-33D9-4A48-9D06-20456C23F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453-8811-43DA-AE60-66FCA771D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629C-BEA9-40EA-AD7D-574AC6AD8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003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B49FF-4102-4955-83D0-7C34EA0A4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0571CF-59FE-4563-B560-AEE6ACAB5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72D15-6B4B-4F40-A257-236FECE08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EAEB-5A09-4949-8D36-3E3459DD2A0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07847-C46A-480C-AD80-672326FB8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693C9-BC70-440E-ACB1-B5F586ED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629C-BEA9-40EA-AD7D-574AC6AD8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837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9B894D-5CFE-40BC-8F07-FBA979250B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05FE43-1EEE-4CF6-9883-9C1721F3B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309BD-5F90-4FDE-BB54-1FDCBD775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7EAEB-5A09-4949-8D36-3E3459DD2A0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3406C-965C-4A7C-9641-22823EE52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91ECD-35B9-42F2-94BC-617A5356E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4629C-BEA9-40EA-AD7D-574AC6AD8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418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66E265-8DD6-4817-930D-AB6785BBB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C39D4-CF16-4263-9FF6-D69DA5A8B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85E30-2B97-4A83-84DE-C644B2827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7EAEB-5A09-4949-8D36-3E3459DD2A0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64D8D-5026-471F-A65C-2804C0A632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8C1FF-7692-4174-8F68-C583AB416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4629C-BEA9-40EA-AD7D-574AC6AD8C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287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16DC0-4E7C-42CE-8333-59B5E54100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3760" y="1076960"/>
            <a:ext cx="6532880" cy="155448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INDIAN CRIME 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E0A5EA-7A87-4A01-9026-CC68797E85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72720" y="2570799"/>
            <a:ext cx="9144000" cy="1655762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FF0000"/>
                </a:solidFill>
                <a:latin typeface="Arial Black" panose="020B0A04020102020204" pitchFamily="34" charset="0"/>
              </a:rPr>
              <a:t>DATA ANALYSIS</a:t>
            </a:r>
            <a:endParaRPr lang="en-IN" sz="6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B5C1C5-6D34-43F9-9A16-39743606EB76}"/>
              </a:ext>
            </a:extLst>
          </p:cNvPr>
          <p:cNvSpPr txBox="1"/>
          <p:nvPr/>
        </p:nvSpPr>
        <p:spPr>
          <a:xfrm>
            <a:off x="1130300" y="3940612"/>
            <a:ext cx="62763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Crime Patterns Across India  |  2020–2024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56940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39C43D-20FF-4537-B1F1-9422A37E84CA}"/>
              </a:ext>
            </a:extLst>
          </p:cNvPr>
          <p:cNvSpPr txBox="1"/>
          <p:nvPr/>
        </p:nvSpPr>
        <p:spPr>
          <a:xfrm>
            <a:off x="1097280" y="396240"/>
            <a:ext cx="8615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 Black" panose="020B0A04020102020204" pitchFamily="34" charset="0"/>
              </a:rPr>
              <a:t>PROBLEM STATEMENT</a:t>
            </a:r>
            <a:endParaRPr lang="en-IN" sz="24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65004F8-2D3B-446B-84D4-603BF3D33F8E}"/>
              </a:ext>
            </a:extLst>
          </p:cNvPr>
          <p:cNvSpPr/>
          <p:nvPr/>
        </p:nvSpPr>
        <p:spPr>
          <a:xfrm>
            <a:off x="1219199" y="1557020"/>
            <a:ext cx="8686800" cy="1038860"/>
          </a:xfrm>
          <a:prstGeom prst="rect">
            <a:avLst/>
          </a:prstGeom>
          <a:solidFill>
            <a:schemeClr val="bg1">
              <a:lumMod val="6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India's Crime Reality?</a:t>
            </a:r>
            <a:endParaRPr lang="en-US" sz="3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6504BB-6E34-4051-8D5E-EF0BDA459F1B}"/>
              </a:ext>
            </a:extLst>
          </p:cNvPr>
          <p:cNvSpPr txBox="1"/>
          <p:nvPr/>
        </p:nvSpPr>
        <p:spPr>
          <a:xfrm flipH="1">
            <a:off x="1219199" y="3294996"/>
            <a:ext cx="60553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Key Questions: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Which State is unsafe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Which crimes are growing faster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  <a:latin typeface="Arial Black" panose="020B0A04020102020204" pitchFamily="34" charset="0"/>
              </a:rPr>
              <a:t>What we can do to stop crime</a:t>
            </a:r>
          </a:p>
        </p:txBody>
      </p:sp>
    </p:spTree>
    <p:extLst>
      <p:ext uri="{BB962C8B-B14F-4D97-AF65-F5344CB8AC3E}">
        <p14:creationId xmlns:p14="http://schemas.microsoft.com/office/powerpoint/2010/main" val="534047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4503BE-40A7-4AF3-B213-2CA4EB7683F1}"/>
              </a:ext>
            </a:extLst>
          </p:cNvPr>
          <p:cNvSpPr txBox="1"/>
          <p:nvPr/>
        </p:nvSpPr>
        <p:spPr>
          <a:xfrm>
            <a:off x="1107440" y="487680"/>
            <a:ext cx="3992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Arial Black" panose="020B0A04020102020204" pitchFamily="34" charset="0"/>
              </a:rPr>
              <a:t>Dataset Overview</a:t>
            </a:r>
            <a:endParaRPr lang="en-IN" sz="28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6AC10-5449-4A10-B7DD-9BC946410864}"/>
              </a:ext>
            </a:extLst>
          </p:cNvPr>
          <p:cNvSpPr txBox="1"/>
          <p:nvPr/>
        </p:nvSpPr>
        <p:spPr>
          <a:xfrm>
            <a:off x="1107440" y="1249680"/>
            <a:ext cx="49377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rial Black" panose="020B0A04020102020204" pitchFamily="34" charset="0"/>
              </a:rPr>
              <a:t>About the Data</a:t>
            </a:r>
            <a:endParaRPr lang="en-IN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289FF-9D87-453C-A093-58543D8B5095}"/>
              </a:ext>
            </a:extLst>
          </p:cNvPr>
          <p:cNvSpPr txBox="1"/>
          <p:nvPr/>
        </p:nvSpPr>
        <p:spPr>
          <a:xfrm>
            <a:off x="1259840" y="3022998"/>
            <a:ext cx="3962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Source :- Kaggle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Total Records -40k+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rgbClr val="C00000"/>
                </a:solidFill>
              </a:rPr>
              <a:t>Crime Type -10+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dirty="0">
                <a:solidFill>
                  <a:srgbClr val="C00000"/>
                </a:solidFill>
              </a:rPr>
              <a:t>Years :- 2020-2024</a:t>
            </a:r>
          </a:p>
          <a:p>
            <a:endParaRPr lang="en-IN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94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618173-4AAD-42BB-98B5-78EFCF394E05}"/>
              </a:ext>
            </a:extLst>
          </p:cNvPr>
          <p:cNvSpPr txBox="1"/>
          <p:nvPr/>
        </p:nvSpPr>
        <p:spPr>
          <a:xfrm>
            <a:off x="4907280" y="284480"/>
            <a:ext cx="401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 Black" panose="020B0A04020102020204" pitchFamily="34" charset="0"/>
              </a:rPr>
              <a:t>Key Findings</a:t>
            </a:r>
            <a:endParaRPr lang="en-IN" sz="24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38A3D3-807C-4BB2-B736-E38B49D30BFD}"/>
              </a:ext>
            </a:extLst>
          </p:cNvPr>
          <p:cNvSpPr txBox="1"/>
          <p:nvPr/>
        </p:nvSpPr>
        <p:spPr>
          <a:xfrm>
            <a:off x="924560" y="1239520"/>
            <a:ext cx="553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Top 10 Cities by Crime </a:t>
            </a:r>
            <a:endParaRPr lang="en-IN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5A376D-0FB1-4AFB-9366-24E9863B7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1" y="2138182"/>
            <a:ext cx="6573520" cy="34802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C8F341-7ECD-45AC-ADAC-E4CD67470695}"/>
              </a:ext>
            </a:extLst>
          </p:cNvPr>
          <p:cNvSpPr txBox="1"/>
          <p:nvPr/>
        </p:nvSpPr>
        <p:spPr>
          <a:xfrm>
            <a:off x="7792720" y="2138182"/>
            <a:ext cx="41046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Delhi is the city with most of the </a:t>
            </a:r>
            <a:r>
              <a:rPr lang="en-US" dirty="0" err="1">
                <a:solidFill>
                  <a:schemeClr val="bg1"/>
                </a:solidFill>
              </a:rPr>
              <a:t>the</a:t>
            </a:r>
            <a:r>
              <a:rPr lang="en-US" dirty="0">
                <a:solidFill>
                  <a:schemeClr val="bg1"/>
                </a:solidFill>
              </a:rPr>
              <a:t> crimes while Mumbai and </a:t>
            </a:r>
            <a:r>
              <a:rPr lang="en-US" dirty="0" err="1">
                <a:solidFill>
                  <a:schemeClr val="bg1"/>
                </a:solidFill>
              </a:rPr>
              <a:t>Banglore</a:t>
            </a:r>
            <a:r>
              <a:rPr lang="en-US" dirty="0">
                <a:solidFill>
                  <a:schemeClr val="bg1"/>
                </a:solidFill>
              </a:rPr>
              <a:t> is in 2</a:t>
            </a:r>
            <a:r>
              <a:rPr lang="en-US" baseline="30000" dirty="0">
                <a:solidFill>
                  <a:schemeClr val="bg1"/>
                </a:solidFill>
              </a:rPr>
              <a:t>nd</a:t>
            </a:r>
            <a:r>
              <a:rPr lang="en-US" dirty="0">
                <a:solidFill>
                  <a:schemeClr val="bg1"/>
                </a:solidFill>
              </a:rPr>
              <a:t> and 3</a:t>
            </a:r>
            <a:r>
              <a:rPr lang="en-US" baseline="30000" dirty="0">
                <a:solidFill>
                  <a:schemeClr val="bg1"/>
                </a:solidFill>
              </a:rPr>
              <a:t>rd</a:t>
            </a:r>
            <a:r>
              <a:rPr lang="en-US" dirty="0">
                <a:solidFill>
                  <a:schemeClr val="bg1"/>
                </a:solidFill>
              </a:rPr>
              <a:t> Positions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3 cities Alone record to 50% of Crime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1269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D0FDA2-E20A-49DA-945F-B364D7E7C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97" y="1829217"/>
            <a:ext cx="5497241" cy="31995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187894-227A-4C2E-8259-546D9191365A}"/>
              </a:ext>
            </a:extLst>
          </p:cNvPr>
          <p:cNvSpPr txBox="1"/>
          <p:nvPr/>
        </p:nvSpPr>
        <p:spPr>
          <a:xfrm flipH="1">
            <a:off x="1218518" y="487680"/>
            <a:ext cx="5253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Top 5 Crime Happening Around</a:t>
            </a:r>
            <a:endParaRPr lang="en-IN" sz="36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7C3FBE-8E67-483F-8BE0-ACE8A87CB608}"/>
              </a:ext>
            </a:extLst>
          </p:cNvPr>
          <p:cNvSpPr txBox="1"/>
          <p:nvPr/>
        </p:nvSpPr>
        <p:spPr>
          <a:xfrm>
            <a:off x="7548880" y="2367280"/>
            <a:ext cx="387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chemeClr val="bg1"/>
                </a:solidFill>
              </a:rPr>
              <a:t>Burgulary</a:t>
            </a:r>
            <a:r>
              <a:rPr lang="en-US" dirty="0">
                <a:solidFill>
                  <a:schemeClr val="bg1"/>
                </a:solidFill>
              </a:rPr>
              <a:t> is the top most crime while vandalism in second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Top 5 crimes Equally Distributed suggesting no crime is dominated 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881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F723FF-FCB7-40A3-9F13-F11338232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096" y="1548225"/>
            <a:ext cx="5290184" cy="33311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7A046C-9C25-41CE-A8C1-B0EBB3CBBD5D}"/>
              </a:ext>
            </a:extLst>
          </p:cNvPr>
          <p:cNvSpPr txBox="1"/>
          <p:nvPr/>
        </p:nvSpPr>
        <p:spPr>
          <a:xfrm flipH="1">
            <a:off x="807718" y="650240"/>
            <a:ext cx="5054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Arial Black" panose="020B0A04020102020204" pitchFamily="34" charset="0"/>
              </a:rPr>
              <a:t>Crime Year wise</a:t>
            </a:r>
            <a:endParaRPr lang="en-IN" sz="36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3CE9D5-E48C-40EB-9CE8-D99B478B8BF1}"/>
              </a:ext>
            </a:extLst>
          </p:cNvPr>
          <p:cNvSpPr txBox="1"/>
          <p:nvPr/>
        </p:nvSpPr>
        <p:spPr>
          <a:xfrm>
            <a:off x="7142480" y="1849120"/>
            <a:ext cx="38404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Total cases remained stable at 8.5k+ annually from 2020–2023. The sharp drop in 2024 to 5k+ cases is likely due to incomplete data for that year rather than an actual reduction in crime.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659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1C5D79-0061-4D78-B226-EE4719EF4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903" y="1984472"/>
            <a:ext cx="4505954" cy="3153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78FE81-CE59-4F31-A121-88E6BDC6907E}"/>
              </a:ext>
            </a:extLst>
          </p:cNvPr>
          <p:cNvSpPr txBox="1"/>
          <p:nvPr/>
        </p:nvSpPr>
        <p:spPr>
          <a:xfrm>
            <a:off x="1109983" y="944880"/>
            <a:ext cx="5087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 Black" panose="020B0A04020102020204" pitchFamily="34" charset="0"/>
              </a:rPr>
              <a:t>Which Weapon IS used Most</a:t>
            </a:r>
            <a:endParaRPr lang="en-IN" sz="24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C55B0-89F4-4126-9569-42369EBA2744}"/>
              </a:ext>
            </a:extLst>
          </p:cNvPr>
          <p:cNvSpPr txBox="1"/>
          <p:nvPr/>
        </p:nvSpPr>
        <p:spPr>
          <a:xfrm>
            <a:off x="6746240" y="2590800"/>
            <a:ext cx="4368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Knife (14.53%), None (14.42%), Explosives (14.32%), Blunt Object (14.29%), Poison (14.26%), Other (14.13%), and Firearm (14.05%) — with less than 0.5% difference between them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107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DB7378-FE99-4F8C-83B8-FA134A473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053" y="2157235"/>
            <a:ext cx="3572374" cy="25435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1EEE52-E5E9-40B8-814D-DE233C64E94B}"/>
              </a:ext>
            </a:extLst>
          </p:cNvPr>
          <p:cNvSpPr txBox="1"/>
          <p:nvPr/>
        </p:nvSpPr>
        <p:spPr>
          <a:xfrm>
            <a:off x="995680" y="1191865"/>
            <a:ext cx="4856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 Black" panose="020B0A04020102020204" pitchFamily="34" charset="0"/>
              </a:rPr>
              <a:t>Crimes by Victims Gender</a:t>
            </a:r>
            <a:endParaRPr lang="en-IN" sz="24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AFAFD0-D544-453D-8BF0-607B076FB539}"/>
              </a:ext>
            </a:extLst>
          </p:cNvPr>
          <p:cNvSpPr txBox="1"/>
          <p:nvPr/>
        </p:nvSpPr>
        <p:spPr>
          <a:xfrm>
            <a:off x="6096000" y="2621280"/>
            <a:ext cx="4287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victims of Crimes are mostly Females (56%) ,while Men with (33%) and X(11%)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857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8DC860-5107-4141-87F2-A9B5643705A7}"/>
              </a:ext>
            </a:extLst>
          </p:cNvPr>
          <p:cNvSpPr txBox="1"/>
          <p:nvPr/>
        </p:nvSpPr>
        <p:spPr>
          <a:xfrm>
            <a:off x="609608" y="1056640"/>
            <a:ext cx="375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 Black" panose="020B0A04020102020204" pitchFamily="34" charset="0"/>
              </a:rPr>
              <a:t>Crime By Victim Age</a:t>
            </a:r>
            <a:endParaRPr lang="en-IN" sz="24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1C4E55-B406-4AED-B245-AC299669F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04" y="1884510"/>
            <a:ext cx="5212466" cy="2900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A2F3DA-9DB7-4A37-9FE6-60100A8050C2}"/>
              </a:ext>
            </a:extLst>
          </p:cNvPr>
          <p:cNvSpPr txBox="1"/>
          <p:nvPr/>
        </p:nvSpPr>
        <p:spPr>
          <a:xfrm>
            <a:off x="7548880" y="2351870"/>
            <a:ext cx="2997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Highest Crime victims Are the Senior Citizens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While </a:t>
            </a:r>
            <a:r>
              <a:rPr lang="en-US" sz="20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Juvinile</a:t>
            </a:r>
            <a:r>
              <a:rPr lang="en-US" sz="2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Is lowest one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Data Showing Higher the age high chance of victim Pattern</a:t>
            </a:r>
            <a:endParaRPr lang="en-IN" sz="20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958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963A19-BB66-4160-9404-3BB95BC21102}"/>
              </a:ext>
            </a:extLst>
          </p:cNvPr>
          <p:cNvSpPr txBox="1"/>
          <p:nvPr/>
        </p:nvSpPr>
        <p:spPr>
          <a:xfrm>
            <a:off x="1351280" y="701040"/>
            <a:ext cx="6258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Arial Black" panose="020B0A04020102020204" pitchFamily="34" charset="0"/>
              </a:rPr>
              <a:t>RECOMMENDATIONS</a:t>
            </a:r>
            <a:endParaRPr lang="en-IN" sz="40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3564B-244E-4F16-8CA6-7DFCF7A38471}"/>
              </a:ext>
            </a:extLst>
          </p:cNvPr>
          <p:cNvSpPr txBox="1"/>
          <p:nvPr/>
        </p:nvSpPr>
        <p:spPr>
          <a:xfrm>
            <a:off x="1168400" y="1889760"/>
            <a:ext cx="839216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Law enforcement agencies should prioritize additional police personnel, surveillance infrastructure, and rapid response units in cities like (Delhi ,Mumbai , </a:t>
            </a:r>
            <a:r>
              <a:rPr lang="en-US" sz="2000" dirty="0" err="1">
                <a:solidFill>
                  <a:schemeClr val="bg1"/>
                </a:solidFill>
              </a:rPr>
              <a:t>Banglore</a:t>
            </a:r>
            <a:r>
              <a:rPr lang="en-US" sz="2000" dirty="0">
                <a:solidFill>
                  <a:schemeClr val="bg1"/>
                </a:solidFill>
              </a:rPr>
              <a:t>  </a:t>
            </a:r>
            <a:r>
              <a:rPr lang="en-US" sz="2000" dirty="0" err="1">
                <a:solidFill>
                  <a:schemeClr val="bg1"/>
                </a:solidFill>
              </a:rPr>
              <a:t>etc</a:t>
            </a:r>
            <a:r>
              <a:rPr lang="en-US" sz="2000" dirty="0">
                <a:solidFill>
                  <a:schemeClr val="bg1"/>
                </a:solidFill>
              </a:rPr>
              <a:t>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Senior citizens show the highest crime involvement . Dedicated helplines, community patrol programs, and awareness campaigns should be launched specifically targeting elderly safety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Banks, financial institutions and citizens need stronger digital literacy programs and fraud detection systems to combat financial crimes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With Knives and Firearms among top weapons used, stricter weapon monitoring Should done ,online sales  knives should be banned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Crimes against women remain a critical concern , requiring immediate attention from law enforcement and policy makers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Domestic Violence consistently ranks among the top 5 crime types, highlighting the urgent need for stronger implementation of women protection laws and support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265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Bahnschrift Condensed</vt:lpstr>
      <vt:lpstr>Calibri</vt:lpstr>
      <vt:lpstr>Calibri Light</vt:lpstr>
      <vt:lpstr>Wingdings</vt:lpstr>
      <vt:lpstr>Office Theme</vt:lpstr>
      <vt:lpstr>INDIAN CRIME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CRIME </dc:title>
  <dc:creator>rohitsinghbishtkv@gmail.com</dc:creator>
  <cp:lastModifiedBy>rohitsinghbishtkv@gmail.com</cp:lastModifiedBy>
  <cp:revision>1</cp:revision>
  <dcterms:created xsi:type="dcterms:W3CDTF">2026-03-25T11:29:33Z</dcterms:created>
  <dcterms:modified xsi:type="dcterms:W3CDTF">2026-03-25T11:29:41Z</dcterms:modified>
</cp:coreProperties>
</file>